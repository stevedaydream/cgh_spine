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pine-cgh.pages.dev/demo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1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49670" y="914400"/>
            <a:ext cx="91440" cy="1188720"/>
          </a:xfrm>
          <a:prstGeom prst="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29630" y="960120"/>
            <a:ext cx="731520" cy="164592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29630" y="1234440"/>
            <a:ext cx="731520" cy="164592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29630" y="1508760"/>
            <a:ext cx="731520" cy="164592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29630" y="1783080"/>
            <a:ext cx="731520" cy="164592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0D47A1"/>
                </a:solidFill>
                <a:latin typeface="Microsoft JhengHei"/>
              </a:defRPr>
            </a:pPr>
            <a:r>
              <a:t>脊椎術後追蹤系統</a:t>
            </a:r>
          </a:p>
          <a:p>
            <a:pPr algn="ctr">
              <a:spcAft>
                <a:spcPts val="1000"/>
              </a:spcAft>
              <a:defRPr sz="2000" b="0">
                <a:solidFill>
                  <a:srgbClr val="212121"/>
                </a:solidFill>
                <a:latin typeface="Microsoft JhengHei"/>
              </a:defRPr>
            </a:pPr>
            <a:r>
              <a:t>以數位工具實現主動式術後照護管理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2895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757575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</a:t>
            </a:r>
            <a:r>
              <a:rPr sz="1500" b="1" dirty="0" err="1">
                <a:solidFill>
                  <a:srgbClr val="7575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劉</a:t>
            </a:r>
            <a:r>
              <a:rPr lang="zh-TW" altLang="en-US" sz="1500" b="1" dirty="0">
                <a:solidFill>
                  <a:srgbClr val="7575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哲瑋</a:t>
            </a:r>
            <a:r>
              <a:rPr sz="1500" b="1" dirty="0" err="1">
                <a:solidFill>
                  <a:srgbClr val="7575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主任</a:t>
            </a:r>
            <a:r>
              <a:rPr sz="1500" b="1" dirty="0">
                <a:solidFill>
                  <a:srgbClr val="7575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dirty="0"/>
              <a:t>｜  </a:t>
            </a:r>
            <a:r>
              <a:rPr dirty="0" err="1"/>
              <a:t>單位：骨科部</a:t>
            </a:r>
            <a:endParaRPr dirty="0"/>
          </a:p>
          <a:p>
            <a:pPr algn="ctr">
              <a:spcAft>
                <a:spcPts val="600"/>
              </a:spcAft>
              <a:defRPr sz="1300" b="0">
                <a:solidFill>
                  <a:srgbClr val="757575"/>
                </a:solidFill>
                <a:latin typeface="Microsoft JhengHei"/>
              </a:defRPr>
            </a:pPr>
            <a:r>
              <a:rPr dirty="0"/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臨床痛點（Why Now）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現況困境與照護瓶頸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ultiply 5"/>
          <p:cNvSpPr/>
          <p:nvPr/>
        </p:nvSpPr>
        <p:spPr>
          <a:xfrm>
            <a:off x="1005840" y="224028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術後 12 週、17 個追蹤時間點，全靠人工無法落實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ultiply 8"/>
          <p:cNvSpPr/>
          <p:nvPr/>
        </p:nvSpPr>
        <p:spPr>
          <a:xfrm>
            <a:off x="1005840" y="370332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電話追蹤：每位病患平均耗費護理師 [X] 分鐘/次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ultiply 11"/>
          <p:cNvSpPr/>
          <p:nvPr/>
        </p:nvSpPr>
        <p:spPr>
          <a:xfrm>
            <a:off x="1005840" y="516636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89204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資料無法跨病患比較，難以支撐臨床改善與研究發表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029200" cy="4206240"/>
          </a:xfrm>
          <a:prstGeom prst="round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800" b="1">
                <a:solidFill>
                  <a:srgbClr val="0D47A1"/>
                </a:solidFill>
                <a:latin typeface="Microsoft JhengHei"/>
              </a:defRPr>
            </a:pPr>
            <a:r>
              <a:t>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7744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47A1"/>
                </a:solidFill>
                <a:latin typeface="Microsoft JhengHei"/>
              </a:defRPr>
            </a:pPr>
            <a:r>
              <a:t>我們需要一個讓病患主動回報、</a:t>
            </a:r>
            <a:br/>
            <a:r>
              <a:t>讓醫護即時掌握、</a:t>
            </a:r>
            <a:br/>
            <a:r>
              <a:t>讓數據自動累積的系統。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389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4800" b="1">
                <a:solidFill>
                  <a:srgbClr val="0D47A1"/>
                </a:solidFill>
                <a:latin typeface="Microsoft JhengHei"/>
              </a:defRPr>
            </a:pPr>
            <a:r>
              <a:t>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系統架構（What）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3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5752" cy="109728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第一層：病患端（LINE Bot）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E1F5FE"/>
                </a:solidFill>
                <a:latin typeface="Microsoft JhengHei"/>
              </a:defRPr>
            </a:pPr>
            <a:r>
              <a:t>零 App 安裝、零病患學習成本！Quick Reply 快速填答，保障極佳的依從性</a:t>
            </a:r>
          </a:p>
        </p:txBody>
      </p:sp>
      <p:sp>
        <p:nvSpPr>
          <p:cNvPr id="5" name="Down Arrow 4"/>
          <p:cNvSpPr/>
          <p:nvPr/>
        </p:nvSpPr>
        <p:spPr>
          <a:xfrm>
            <a:off x="5632704" y="2468880"/>
            <a:ext cx="914400" cy="365760"/>
          </a:xfrm>
          <a:prstGeom prst="downArrow">
            <a:avLst/>
          </a:prstGeom>
          <a:solidFill>
            <a:srgbClr val="E1F5F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D47A1"/>
                </a:solidFill>
                <a:latin typeface="Microsoft JhengHei"/>
              </a:defRPr>
            </a:pPr>
            <a:r>
              <a:t>自動推播問卷 / Quick Reply 填答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9445752" cy="10972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第二層：後端 API（Google Apps Script）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自動整合病患回報數據，進行 AI 輔助解析與疼痛惡化異常指標篩選警示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32704" y="4114800"/>
            <a:ext cx="914400" cy="365760"/>
          </a:xfrm>
          <a:prstGeom prst="downArrow">
            <a:avLst/>
          </a:prstGeom>
          <a:solidFill>
            <a:srgbClr val="E1F5F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D47A1"/>
                </a:solidFill>
                <a:latin typeface="Microsoft JhengHei"/>
              </a:defRPr>
            </a:pPr>
            <a:r>
              <a:t>AI 輔助解析 / 異常主動警示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9445752" cy="10972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第三層：醫護端（網頁儀表板）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個案管理儀表板，提供即時查閱、異常紅字警示確認、與一鍵匯出結構化臨床報告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4715" y="5760720"/>
            <a:ext cx="59795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D47A1"/>
                </a:solidFill>
                <a:latin typeface="Microsoft JhengHei"/>
              </a:defRPr>
            </a:pPr>
            <a:r>
              <a:rPr dirty="0"/>
              <a:t>★ 零 App </a:t>
            </a:r>
            <a:r>
              <a:rPr dirty="0" err="1"/>
              <a:t>安裝成本，病患零學習負擔，以現有</a:t>
            </a:r>
            <a:r>
              <a:rPr dirty="0"/>
              <a:t> LINE </a:t>
            </a:r>
            <a:r>
              <a:rPr dirty="0" err="1"/>
              <a:t>生態系實現無縫對接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介面展示（Demo）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4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583680" cy="3657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389888"/>
            <a:ext cx="109728" cy="109728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" y="1389888"/>
            <a:ext cx="109728" cy="109728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71016" y="1389888"/>
            <a:ext cx="109728" cy="10972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45920" y="1325880"/>
            <a:ext cx="53035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defRPr sz="900">
                <a:solidFill>
                  <a:srgbClr val="757575"/>
                </a:solidFill>
                <a:latin typeface="Microsoft JhengHei"/>
              </a:defRPr>
            </a:pPr>
            <a:r>
              <a:t>https://spine-cgh.pages.dev/demo</a:t>
            </a:r>
          </a:p>
        </p:txBody>
      </p:sp>
      <p:pic>
        <p:nvPicPr>
          <p:cNvPr id="9" name="Picture 8" descr="spine_demo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583680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3949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0D47A1"/>
                </a:solidFill>
                <a:latin typeface="Microsoft JhengHei"/>
              </a:defRPr>
            </a:pPr>
            <a:r>
              <a:t>💡 提示：點擊上方畫面即可開啟線上 Demo 網頁進行互動體驗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80160"/>
            <a:ext cx="3840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>
              <a:spcAft>
                <a:spcPts val="12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三大整合介面說明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1. 護理師端（登記中心）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757575"/>
                </a:solidFill>
                <a:latin typeface="Microsoft JhengHei"/>
              </a:defRPr>
            </a:pPr>
            <a:r>
              <a:t>搜尋病患、即時掌握術後天數、最近一次 VAS 疼痛指數與 LINE 綁定狀態。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2. 醫師端（管理後台）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757575"/>
                </a:solidFill>
                <a:latin typeface="Microsoft JhengHei"/>
              </a:defRPr>
            </a:pPr>
            <a:r>
              <a:t>檢視追蹤完整度進度條、疼痛異常顏色警示（綠→紅）、AI 暫存待確認專區。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3. 病患端（LINE 問卷）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757575"/>
                </a:solidFill>
                <a:latin typeface="Microsoft JhengHei"/>
              </a:defRPr>
            </a:pPr>
            <a:r>
              <a:t>直覺問卷與 Quick Reply 按鈕，降低長輩使用門檻，實現高回報率。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C62828"/>
                </a:solidFill>
                <a:latin typeface="Microsoft JhengHei"/>
              </a:defRPr>
            </a:pPr>
            <a:r>
              <a:t>📌 重點標記：「異常 VAS 自動標紅」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09688"/>
                </a:solidFill>
                <a:latin typeface="Microsoft JhengHei"/>
              </a:defRPr>
            </a:pPr>
            <a:r>
              <a:t>📌 重點標記：「追蹤完整度一目了然」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初步成果與預期效益（So What）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5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" cy="210312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追蹤完整度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0D47A1"/>
                </a:solidFill>
                <a:latin typeface="Microsoft JhengHei"/>
              </a:defRPr>
            </a:pPr>
            <a:r>
              <a:t>目標回報率由不規律提升至 ≥ 80%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透過 LINE 自動化主動推播與零阻力的 Quick Reply 填答介面，大幅提升病患術後 12 週的填答依從性與資料完整度。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095" y="1463040"/>
            <a:ext cx="137160" cy="210312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護理追蹤人力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009688"/>
                </a:solidFill>
                <a:latin typeface="Microsoft JhengHei"/>
              </a:defRPr>
            </a:pPr>
            <a:r>
              <a:t>電話催填工作大幅減少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系統自動推播與收集問卷，護理師僅需針對未填答或警示個案進行介入，預估可節省大量電話催填人力成本。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13716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研究資料庫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2E7D32"/>
                </a:solidFill>
                <a:latin typeface="Microsoft JhengHei"/>
              </a:defRPr>
            </a:pPr>
            <a:r>
              <a:t>累積 12 週結構化資料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自動累積標準化臨床結果指標，建立高價值研究資料庫，直接支援 VAS / ODI / MCID / PASS 等研究級統計分析。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3840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8095" y="3840480"/>
            <a:ext cx="137160" cy="2103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2415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早期警示機制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C62828"/>
                </a:solidFill>
                <a:latin typeface="Microsoft JhengHei"/>
              </a:defRPr>
            </a:pPr>
            <a:r>
              <a:t>疼痛惡化個案主動介入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當病患回報評分異常（如疼痛急遽上升）時，系統發出即時警示，個管師可於下次門診回診前主動電話介入與關懷。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rPr dirty="0" err="1"/>
              <a:t>未來展望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6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5752" cy="1005840"/>
          </a:xfrm>
          <a:prstGeom prst="round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2000" b="1">
                <a:solidFill>
                  <a:srgbClr val="0D47A1"/>
                </a:solidFill>
                <a:latin typeface="Microsoft JhengHei"/>
              </a:defRPr>
            </a:pPr>
            <a:r>
              <a:t>「模模組化設計，一套邏輯，跨科複製」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2390" y="2651760"/>
            <a:ext cx="2286000" cy="91440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脊椎骨科 Pilot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E1F5FE"/>
                </a:solidFill>
                <a:latin typeface="Microsoft JhengHei"/>
              </a:defRPr>
            </a:pPr>
            <a:r>
              <a:t>（示範與標準流程建立）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292608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心臟外科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212121"/>
                </a:solidFill>
                <a:latin typeface="Microsoft JhengHei"/>
              </a:defRPr>
            </a:pPr>
            <a:r>
              <a:t>CABG / 瓣膜置換術後</a:t>
            </a:r>
            <a:br/>
            <a:r>
              <a:t>HRQoL 追蹤 (SF-36、KCCQ)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350" y="4114800"/>
            <a:ext cx="292608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一般外科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212121"/>
                </a:solidFill>
                <a:latin typeface="Microsoft JhengHei"/>
              </a:defRPr>
            </a:pPr>
            <a:r>
              <a:t>癌症術後追蹤管理</a:t>
            </a:r>
            <a:br/>
            <a:r>
              <a:t>(自訂結構化收集機制)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4114800"/>
            <a:ext cx="292608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骨科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212121"/>
                </a:solidFill>
                <a:latin typeface="Microsoft JhengHei"/>
              </a:defRPr>
            </a:pPr>
            <a:r>
              <a:t>關節置換術後</a:t>
            </a:r>
            <a:br/>
            <a:r>
              <a:t>(KOOS、OHS 量表)</a:t>
            </a:r>
          </a:p>
        </p:txBody>
      </p:sp>
      <p:sp>
        <p:nvSpPr>
          <p:cNvPr id="9" name="Down Arrow 8"/>
          <p:cNvSpPr/>
          <p:nvPr/>
        </p:nvSpPr>
        <p:spPr>
          <a:xfrm rot="2700000">
            <a:off x="3474720" y="365760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5912510" y="365760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 rot="18900000">
            <a:off x="8351215" y="365760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9445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rPr dirty="0" err="1"/>
              <a:t>下一步：以骨科脊椎為</a:t>
            </a:r>
            <a:r>
              <a:rPr dirty="0"/>
              <a:t> </a:t>
            </a:r>
            <a:r>
              <a:rPr dirty="0" err="1"/>
              <a:t>Pilot，建立院內數位術後追蹤標準流程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323</Words>
  <Application>Microsoft Office PowerPoint</Application>
  <PresentationFormat>寬螢幕</PresentationFormat>
  <Paragraphs>64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子建 王</cp:lastModifiedBy>
  <cp:revision>2</cp:revision>
  <dcterms:created xsi:type="dcterms:W3CDTF">2013-01-27T09:14:16Z</dcterms:created>
  <dcterms:modified xsi:type="dcterms:W3CDTF">2026-06-03T07:53:39Z</dcterms:modified>
  <cp:category/>
</cp:coreProperties>
</file>