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pine-cgh.pages.dev/demo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6400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757575"/>
                </a:solidFill>
                <a:latin typeface="Microsoft JhengHei"/>
              </a:defRPr>
            </a:pPr>
            <a:r>
              <a:t>1 / 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49670" y="914400"/>
            <a:ext cx="91440" cy="1188720"/>
          </a:xfrm>
          <a:prstGeom prst="rect">
            <a:avLst/>
          </a:prstGeom>
          <a:solidFill>
            <a:srgbClr val="E1F5FE"/>
          </a:solidFill>
          <a:ln>
            <a:solidFill>
              <a:srgbClr val="E1F5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29630" y="960120"/>
            <a:ext cx="731520" cy="164592"/>
          </a:xfrm>
          <a:prstGeom prst="round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29630" y="1234440"/>
            <a:ext cx="731520" cy="164592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29630" y="1508760"/>
            <a:ext cx="731520" cy="164592"/>
          </a:xfrm>
          <a:prstGeom prst="round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29630" y="1783080"/>
            <a:ext cx="731520" cy="164592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400" b="1">
                <a:solidFill>
                  <a:srgbClr val="0D47A1"/>
                </a:solidFill>
                <a:latin typeface="Microsoft JhengHei"/>
              </a:defRPr>
            </a:pPr>
            <a:r>
              <a:t>脊椎術後追蹤系統</a:t>
            </a:r>
          </a:p>
          <a:p>
            <a:pPr algn="ctr">
              <a:spcAft>
                <a:spcPts val="1000"/>
              </a:spcAft>
              <a:defRPr sz="2000" b="0">
                <a:solidFill>
                  <a:srgbClr val="212121"/>
                </a:solidFill>
                <a:latin typeface="Microsoft JhengHei"/>
              </a:defRPr>
            </a:pPr>
            <a:r>
              <a:t>以數位工具實現主動式術後照護管理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757575"/>
                </a:solidFill>
                <a:latin typeface="Microsoft JhengHei"/>
              </a:defRPr>
            </a:pPr>
            <a:r>
              <a:t>骨科部 ｜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Microsoft JhengHei"/>
              </a:defRPr>
            </a:pPr>
            <a:r>
              <a:t>為什麼需要這個系統？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00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757575"/>
                </a:solidFill>
                <a:latin typeface="Microsoft JhengHei"/>
              </a:defRPr>
            </a:pPr>
            <a:r>
              <a:t>2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0D47A1"/>
                </a:solidFill>
                <a:latin typeface="Microsoft JhengHei"/>
              </a:defRPr>
            </a:pPr>
            <a:r>
              <a:t>現況困境與照護瓶頸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ultiply 5"/>
          <p:cNvSpPr/>
          <p:nvPr/>
        </p:nvSpPr>
        <p:spPr>
          <a:xfrm>
            <a:off x="1005840" y="2240280"/>
            <a:ext cx="457200" cy="457200"/>
          </a:xfrm>
          <a:prstGeom prst="mathMultiply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12121"/>
                </a:solidFill>
                <a:latin typeface="Microsoft JhengHei"/>
              </a:defRPr>
            </a:pPr>
            <a:r>
              <a:t>術後 12 週、17 個追蹤時間點，全靠人工難以落實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502920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ultiply 8"/>
          <p:cNvSpPr/>
          <p:nvPr/>
        </p:nvSpPr>
        <p:spPr>
          <a:xfrm>
            <a:off x="1005840" y="3703320"/>
            <a:ext cx="457200" cy="457200"/>
          </a:xfrm>
          <a:prstGeom prst="mathMultiply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429000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12121"/>
                </a:solidFill>
                <a:latin typeface="Microsoft JhengHei"/>
              </a:defRPr>
            </a:pPr>
            <a:r>
              <a:t>電話催填耗費護理師大量人力，病患依從性低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502920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ultiply 11"/>
          <p:cNvSpPr/>
          <p:nvPr/>
        </p:nvSpPr>
        <p:spPr>
          <a:xfrm>
            <a:off x="1005840" y="5166360"/>
            <a:ext cx="457200" cy="457200"/>
          </a:xfrm>
          <a:prstGeom prst="mathMultiply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892040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12121"/>
                </a:solidFill>
                <a:latin typeface="Microsoft JhengHei"/>
              </a:defRPr>
            </a:pPr>
            <a:r>
              <a:t>資料零散，無法支撐臨床研究與品質改善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63040"/>
            <a:ext cx="5029200" cy="4206240"/>
          </a:xfrm>
          <a:prstGeom prst="roundRect">
            <a:avLst/>
          </a:prstGeom>
          <a:solidFill>
            <a:srgbClr val="E1F5FE"/>
          </a:solidFill>
          <a:ln>
            <a:solidFill>
              <a:srgbClr val="E1F5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6459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4800" b="1">
                <a:solidFill>
                  <a:srgbClr val="0D47A1"/>
                </a:solidFill>
                <a:latin typeface="Microsoft JhengHei"/>
              </a:defRPr>
            </a:pPr>
            <a:r>
              <a:t>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37744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0D47A1"/>
                </a:solidFill>
                <a:latin typeface="Microsoft JhengHei"/>
              </a:defRPr>
            </a:pPr>
            <a:r>
              <a:t>我們需要一個讓病患主動回報、</a:t>
            </a:r>
            <a:br/>
            <a:r>
              <a:t>讓醫護即時掌握、</a:t>
            </a:r>
            <a:br/>
            <a:r>
              <a:t>讓數據自動累積的系統。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3891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sz="4800" b="1">
                <a:solidFill>
                  <a:srgbClr val="0D47A1"/>
                </a:solidFill>
                <a:latin typeface="Microsoft JhengHei"/>
              </a:defRPr>
            </a:pPr>
            <a:r>
              <a:t>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Microsoft JhengHei"/>
              </a:defRPr>
            </a:pPr>
            <a:r>
              <a:t>三層自動化架構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00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757575"/>
                </a:solidFill>
                <a:latin typeface="Microsoft JhengHei"/>
              </a:defRPr>
            </a:pPr>
            <a:r>
              <a:t>3 /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45752" cy="1097280"/>
          </a:xfrm>
          <a:prstGeom prst="round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第一層：病患端 — LINE Bot 問卷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E1F5FE"/>
                </a:solidFill>
                <a:latin typeface="Microsoft JhengHei"/>
              </a:defRPr>
            </a:pPr>
            <a:r>
              <a:t>零 App 安裝、Quick Reply 快速按鈕填答，提供友善填答介面與極佳的病患依從性</a:t>
            </a:r>
          </a:p>
        </p:txBody>
      </p:sp>
      <p:sp>
        <p:nvSpPr>
          <p:cNvPr id="5" name="Down Arrow 4"/>
          <p:cNvSpPr/>
          <p:nvPr/>
        </p:nvSpPr>
        <p:spPr>
          <a:xfrm>
            <a:off x="5632704" y="2560320"/>
            <a:ext cx="914400" cy="457200"/>
          </a:xfrm>
          <a:prstGeom prst="downArrow">
            <a:avLst/>
          </a:prstGeom>
          <a:solidFill>
            <a:srgbClr val="E1F5FE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2606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0D47A1"/>
                </a:solidFill>
                <a:latin typeface="Microsoft JhengHei"/>
              </a:defRPr>
            </a:pPr>
            <a:r>
              <a:t>自動推播 17 個術後追蹤時間點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108960"/>
            <a:ext cx="9445752" cy="109728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第二層：後端服務 — 臨床數據庫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自動計算並統計 VAS (疼痛評估) / ODI (脊椎失能指數) / PASS (患者可接受症狀狀態) 等臨床指標</a:t>
            </a:r>
          </a:p>
        </p:txBody>
      </p:sp>
      <p:sp>
        <p:nvSpPr>
          <p:cNvPr id="8" name="Down Arrow 7"/>
          <p:cNvSpPr/>
          <p:nvPr/>
        </p:nvSpPr>
        <p:spPr>
          <a:xfrm>
            <a:off x="5632704" y="4297680"/>
            <a:ext cx="914400" cy="457200"/>
          </a:xfrm>
          <a:prstGeom prst="downArrow">
            <a:avLst/>
          </a:prstGeom>
          <a:solidFill>
            <a:srgbClr val="E1F5FE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4343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0D47A1"/>
                </a:solidFill>
                <a:latin typeface="Microsoft JhengHei"/>
              </a:defRPr>
            </a:pPr>
            <a:r>
              <a:t>即時警示與結構化數據分析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846320"/>
            <a:ext cx="9445752" cy="109728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第三層：醫護端 — 臨床管理儀表板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FFFFFF"/>
                </a:solidFill>
                <a:latin typeface="Microsoft JhengHei"/>
              </a:defRPr>
            </a:pPr>
            <a:r>
              <a:t>異常指標自動警示、即時個案追蹤與臨床管理，協助醫護主動介入照護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Microsoft JhengHei"/>
              </a:defRPr>
            </a:pPr>
            <a:r>
              <a:t>系統實際畫面與線上 Demo 網頁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00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757575"/>
                </a:solidFill>
                <a:latin typeface="Microsoft JhengHei"/>
              </a:defRPr>
            </a:pPr>
            <a:r>
              <a:t>4 / 6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280160"/>
            <a:ext cx="9445752" cy="36576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1389888"/>
            <a:ext cx="109728" cy="109728"/>
          </a:xfrm>
          <a:prstGeom prst="ellipse">
            <a:avLst/>
          </a:prstGeom>
          <a:solidFill>
            <a:srgbClr val="FF5F56"/>
          </a:solidFill>
          <a:ln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09928" y="1389888"/>
            <a:ext cx="109728" cy="109728"/>
          </a:xfrm>
          <a:prstGeom prst="ellipse">
            <a:avLst/>
          </a:prstGeom>
          <a:solidFill>
            <a:srgbClr val="FFBD2E"/>
          </a:solidFill>
          <a:ln>
            <a:solidFill>
              <a:srgbClr val="FFB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11095" y="1389888"/>
            <a:ext cx="109728" cy="109728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1325880"/>
            <a:ext cx="7132320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defRPr sz="1000">
                <a:solidFill>
                  <a:srgbClr val="757575"/>
                </a:solidFill>
                <a:latin typeface="Microsoft JhengHei"/>
              </a:defRPr>
            </a:pPr>
            <a:r>
              <a:t>https://spine-cgh.pages.dev/demo</a:t>
            </a:r>
          </a:p>
        </p:txBody>
      </p:sp>
      <p:pic>
        <p:nvPicPr>
          <p:cNvPr id="9" name="Picture 8" descr="spine_demo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445752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557784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D47A1"/>
                </a:solidFill>
                <a:latin typeface="Microsoft JhengHei"/>
              </a:defRPr>
            </a:pPr>
            <a:r>
              <a:t>💡 提示：點擊上方畫面即可開啟線上 Demo 網頁，進行系統互動填答體驗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Microsoft JhengHei"/>
              </a:defRPr>
            </a:pPr>
            <a:r>
              <a:t>預期臨床效益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00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757575"/>
                </a:solidFill>
                <a:latin typeface="Microsoft JhengHei"/>
              </a:defRPr>
            </a:pPr>
            <a:r>
              <a:t>5 /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5029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37160" cy="210312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D47A1"/>
                </a:solidFill>
                <a:latin typeface="Microsoft JhengHei"/>
              </a:defRPr>
            </a:pPr>
            <a:r>
              <a:t>追蹤完整度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0D47A1"/>
                </a:solidFill>
                <a:latin typeface="Microsoft JhengHei"/>
              </a:defRPr>
            </a:pPr>
            <a:r>
              <a:t>目標回報率 ≥ 80%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212121"/>
                </a:solidFill>
                <a:latin typeface="Microsoft JhengHei"/>
              </a:defRPr>
            </a:pPr>
            <a:r>
              <a:t>透過 LINE 自動化推播與零阻力的 Quick Reply 填答介面，大幅提升病患術後 12 週的填答依從性與資料完整度。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029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095" y="1463040"/>
            <a:ext cx="137160" cy="210312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600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D47A1"/>
                </a:solidFill>
                <a:latin typeface="Microsoft JhengHei"/>
              </a:defRPr>
            </a:pPr>
            <a:r>
              <a:t>護理追蹤人力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009688"/>
                </a:solidFill>
                <a:latin typeface="Microsoft JhengHei"/>
              </a:defRPr>
            </a:pPr>
            <a:r>
              <a:t>電話催填大幅減少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212121"/>
                </a:solidFill>
                <a:latin typeface="Microsoft JhengHei"/>
              </a:defRPr>
            </a:pPr>
            <a:r>
              <a:t>系統自動推播與收集問卷，護理師僅需針對未填答或警示個案進行介入，預估可節省 80% 以上電話催填人力成本。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5029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840480"/>
            <a:ext cx="137160" cy="21031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9776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D47A1"/>
                </a:solidFill>
                <a:latin typeface="Microsoft JhengHei"/>
              </a:defRPr>
            </a:pPr>
            <a:r>
              <a:t>研究資料庫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2E7D32"/>
                </a:solidFill>
                <a:latin typeface="Microsoft JhengHei"/>
              </a:defRPr>
            </a:pPr>
            <a:r>
              <a:t>累積 12 週結構化數據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212121"/>
                </a:solidFill>
                <a:latin typeface="Microsoft JhengHei"/>
              </a:defRPr>
            </a:pPr>
            <a:r>
              <a:t>自動累積標準化臨床結果指標，建立高價值研究資料庫，完整支持 MCID (最小臨床重要差異) 與 PASS 統計分析。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3840480"/>
            <a:ext cx="5029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8095" y="3840480"/>
            <a:ext cx="137160" cy="210312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2415" y="39776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D47A1"/>
                </a:solidFill>
                <a:latin typeface="Microsoft JhengHei"/>
              </a:defRPr>
            </a:pPr>
            <a:r>
              <a:t>早期警示機制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C62828"/>
                </a:solidFill>
                <a:latin typeface="Microsoft JhengHei"/>
              </a:defRPr>
            </a:pPr>
            <a:r>
              <a:t>疼痛惡化個案主動介入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212121"/>
                </a:solidFill>
                <a:latin typeface="Microsoft JhengHei"/>
              </a:defRPr>
            </a:pPr>
            <a:r>
              <a:t>當病患回報評分異常（如疼痛急遽上升）時，系統發出即時警示，個管師可於門診前主動電話介入與關懷，降低再急診率。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D47A1"/>
                </a:solidFill>
                <a:latin typeface="Microsoft JhengHei"/>
              </a:defRPr>
            </a:pPr>
            <a:r>
              <a:t>模組化設計，跨科複製潛力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00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757575"/>
                </a:solidFill>
                <a:latin typeface="Microsoft JhengHei"/>
              </a:defRPr>
            </a:pPr>
            <a:r>
              <a:t>6 /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9445752" cy="1005840"/>
          </a:xfrm>
          <a:prstGeom prst="roundRect">
            <a:avLst/>
          </a:prstGeom>
          <a:solidFill>
            <a:srgbClr val="E1F5FE"/>
          </a:solidFill>
          <a:ln>
            <a:solidFill>
              <a:srgbClr val="E1F5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0D47A1"/>
                </a:solidFill>
                <a:latin typeface="Microsoft JhengHei"/>
              </a:defRPr>
            </a:pPr>
            <a:r>
              <a:t>「一套邏輯，更換量表，即可複製到任何術後追蹤場景」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52390" y="2743200"/>
            <a:ext cx="2286000" cy="914400"/>
          </a:xfrm>
          <a:prstGeom prst="round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脊椎骨科 Pilot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E1F5FE"/>
                </a:solidFill>
                <a:latin typeface="Microsoft JhengHei"/>
              </a:defRPr>
            </a:pPr>
            <a:r>
              <a:t>（示範與標準流程建立）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297680"/>
            <a:ext cx="2926080" cy="10058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0D47A1"/>
                </a:solidFill>
                <a:latin typeface="Microsoft JhengHei"/>
              </a:defRPr>
            </a:pPr>
            <a:r>
              <a:t>心臟外科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212121"/>
                </a:solidFill>
                <a:latin typeface="Microsoft JhengHei"/>
              </a:defRPr>
            </a:pPr>
            <a:r>
              <a:t>CABG/瓣膜置換術後 (KCCQ量表)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350" y="4297680"/>
            <a:ext cx="2926080" cy="10058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0D47A1"/>
                </a:solidFill>
                <a:latin typeface="Microsoft JhengHei"/>
              </a:defRPr>
            </a:pPr>
            <a:r>
              <a:t>一般外科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212121"/>
                </a:solidFill>
                <a:latin typeface="Microsoft JhengHei"/>
              </a:defRPr>
            </a:pPr>
            <a:r>
              <a:t>癌症術後追蹤管理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4297680"/>
            <a:ext cx="2926080" cy="10058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0D47A1"/>
                </a:solidFill>
                <a:latin typeface="Microsoft JhengHei"/>
              </a:defRPr>
            </a:pPr>
            <a:r>
              <a:t>骨科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212121"/>
                </a:solidFill>
                <a:latin typeface="Microsoft JhengHei"/>
              </a:defRPr>
            </a:pPr>
            <a:r>
              <a:t>關節置換術後 (KOOS量表)</a:t>
            </a:r>
          </a:p>
        </p:txBody>
      </p:sp>
      <p:sp>
        <p:nvSpPr>
          <p:cNvPr id="9" name="Down Arrow 8"/>
          <p:cNvSpPr/>
          <p:nvPr/>
        </p:nvSpPr>
        <p:spPr>
          <a:xfrm rot="2700000">
            <a:off x="3474720" y="3840480"/>
            <a:ext cx="365760" cy="365760"/>
          </a:xfrm>
          <a:prstGeom prst="downArrow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912510" y="3840480"/>
            <a:ext cx="365760" cy="365760"/>
          </a:xfrm>
          <a:prstGeom prst="downArrow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 rot="18900000">
            <a:off x="8351215" y="3840480"/>
            <a:ext cx="365760" cy="365760"/>
          </a:xfrm>
          <a:prstGeom prst="downArrow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D47A1"/>
                </a:solidFill>
                <a:latin typeface="Microsoft JhengHei"/>
              </a:defRPr>
            </a:pPr>
            <a:r>
              <a:t>建議以骨科脊椎為Pilot，建立院內數位術後追蹤標準流程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